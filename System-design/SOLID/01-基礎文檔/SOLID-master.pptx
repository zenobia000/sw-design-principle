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"/>
  </p:handoutMasterIdLst>
  <p:sldIdLst>
    <p:sldId id="2147470173" r:id="rId2"/>
    <p:sldId id="2147470174" r:id="rId3"/>
    <p:sldId id="2147470172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E70D2C9-050C-F026-D860-B61C289AEE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44F62C6-DB51-5EF0-532B-EE39883B13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3182B-3F5A-46D4-A663-D9C6CF524FC2}" type="datetimeFigureOut">
              <a:rPr lang="zh-TW" altLang="en-US" smtClean="0"/>
              <a:t>2024/11/19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FEDC32B-191E-4B72-C1ED-5AE13BC0F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8059D5-4CBF-D908-0718-50FD7F12A5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15B4B-4E1C-47A8-AE70-341EB73AC0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197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 dirty="0"/>
              <a:t>Content goes here (20pt)</a:t>
            </a:r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2047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/>
              <a:t>Sunny Data Science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40356"/>
            <a:ext cx="11379200" cy="679396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85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2047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dirty="0"/>
              <a:t>Sunny Data Science</a:t>
            </a:r>
            <a:r>
              <a:rPr lang="en-US" sz="1000" dirty="0"/>
              <a:t>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72399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1BD21A8-5E88-4AE4-993C-2D76760CA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8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2">
            <a:extLst>
              <a:ext uri="{FF2B5EF4-FFF2-40B4-BE49-F238E27FC236}">
                <a16:creationId xmlns:a16="http://schemas.microsoft.com/office/drawing/2014/main" id="{E89DB096-A05E-776A-BDC6-C8AE5E8A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07791"/>
            <a:ext cx="11489509" cy="40542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Python </a:t>
            </a:r>
            <a:r>
              <a:rPr lang="zh-TW" altLang="en-US" dirty="0"/>
              <a:t>導入 </a:t>
            </a:r>
            <a:r>
              <a:rPr lang="en-US" altLang="zh-TW" dirty="0"/>
              <a:t>SOLID </a:t>
            </a:r>
            <a:r>
              <a:rPr lang="zh-TW" altLang="en-US" dirty="0"/>
              <a:t>原則的實用指南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82BD7BD-E2E1-8B54-6DB0-1C4EC81A0ABE}"/>
              </a:ext>
            </a:extLst>
          </p:cNvPr>
          <p:cNvSpPr txBox="1"/>
          <p:nvPr/>
        </p:nvSpPr>
        <p:spPr>
          <a:xfrm>
            <a:off x="406400" y="1757497"/>
            <a:ext cx="70394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單一職責原則（Single Responsibility Principle, SRP）</a:t>
            </a:r>
            <a:endParaRPr kumimoji="0" lang="en-US" altLang="zh-TW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開放封閉原則（Open/Closed Principle, OCP）</a:t>
            </a:r>
            <a:endParaRPr kumimoji="0" lang="en-US" altLang="zh-TW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依賴反轉原則（Dependency Inversion Principle, DIP）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里氏替換原則（Liskov Substitution Principle, LSP）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介面隔離原則（Interface Segregation Principle, ISP）</a:t>
            </a: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FD93C5-CE53-0340-A768-4E36291E816E}"/>
              </a:ext>
            </a:extLst>
          </p:cNvPr>
          <p:cNvSpPr/>
          <p:nvPr/>
        </p:nvSpPr>
        <p:spPr>
          <a:xfrm>
            <a:off x="304800" y="933450"/>
            <a:ext cx="11582400" cy="547007"/>
          </a:xfrm>
          <a:prstGeom prst="rect">
            <a:avLst/>
          </a:prstGeom>
          <a:solidFill>
            <a:srgbClr val="BEE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chemeClr val="tx1"/>
                </a:solidFill>
              </a:rPr>
              <a:t>SOLID </a:t>
            </a:r>
            <a:r>
              <a:rPr lang="zh-TW" altLang="en-US" sz="1200" dirty="0">
                <a:solidFill>
                  <a:schemeClr val="tx1"/>
                </a:solidFill>
              </a:rPr>
              <a:t>是面向對象設計的五大基本原則，能幫助你設計靈活且可擴展的代碼。然而，許多人在導入 </a:t>
            </a:r>
            <a:r>
              <a:rPr lang="en-US" altLang="zh-TW" sz="1200" dirty="0">
                <a:solidFill>
                  <a:schemeClr val="tx1"/>
                </a:solidFill>
              </a:rPr>
              <a:t>SOLID </a:t>
            </a:r>
            <a:r>
              <a:rPr lang="zh-TW" altLang="en-US" sz="1200" dirty="0">
                <a:solidFill>
                  <a:schemeClr val="tx1"/>
                </a:solidFill>
              </a:rPr>
              <a:t>時會陷入教條式理解而無法真正應用。本指南將以簡單易懂的方式，結合 </a:t>
            </a:r>
            <a:r>
              <a:rPr lang="en-US" altLang="zh-TW" sz="1200" dirty="0">
                <a:solidFill>
                  <a:schemeClr val="tx1"/>
                </a:solidFill>
              </a:rPr>
              <a:t>Python </a:t>
            </a:r>
            <a:r>
              <a:rPr lang="zh-TW" altLang="en-US" sz="1200" dirty="0">
                <a:solidFill>
                  <a:schemeClr val="tx1"/>
                </a:solidFill>
              </a:rPr>
              <a:t>範例，闡明何時該「</a:t>
            </a:r>
            <a:r>
              <a:rPr lang="en-US" altLang="zh-TW" sz="1200" dirty="0">
                <a:solidFill>
                  <a:schemeClr val="tx1"/>
                </a:solidFill>
              </a:rPr>
              <a:t>Do</a:t>
            </a:r>
            <a:r>
              <a:rPr lang="zh-TW" altLang="en-US" sz="1200" dirty="0">
                <a:solidFill>
                  <a:schemeClr val="tx1"/>
                </a:solidFill>
              </a:rPr>
              <a:t>」以及何時該「</a:t>
            </a:r>
            <a:r>
              <a:rPr lang="en-US" altLang="zh-TW" sz="1200" dirty="0">
                <a:solidFill>
                  <a:schemeClr val="tx1"/>
                </a:solidFill>
              </a:rPr>
              <a:t>Don't</a:t>
            </a:r>
            <a:r>
              <a:rPr lang="zh-TW" altLang="en-US" sz="1200" dirty="0">
                <a:solidFill>
                  <a:schemeClr val="tx1"/>
                </a:solidFill>
              </a:rPr>
              <a:t>」。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1647B3C-F48F-14EC-5B46-5DCAFF59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407" y="1757497"/>
            <a:ext cx="6787793" cy="394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6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2B378-25C7-983B-A71F-5C08ABCF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DC812EA-3346-CCF7-19FC-CC1CB23D9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05" y="780054"/>
            <a:ext cx="6533163" cy="585651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E7750DA-E393-E304-64CD-12E23338CCD1}"/>
              </a:ext>
            </a:extLst>
          </p:cNvPr>
          <p:cNvSpPr txBox="1"/>
          <p:nvPr/>
        </p:nvSpPr>
        <p:spPr>
          <a:xfrm>
            <a:off x="3196045" y="1584961"/>
            <a:ext cx="500458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SRP</a:t>
            </a:r>
            <a:endParaRPr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0AB712-AA5B-5D9F-F779-29446335412D}"/>
              </a:ext>
            </a:extLst>
          </p:cNvPr>
          <p:cNvSpPr txBox="1"/>
          <p:nvPr/>
        </p:nvSpPr>
        <p:spPr>
          <a:xfrm>
            <a:off x="3196045" y="3091557"/>
            <a:ext cx="518091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OCP</a:t>
            </a:r>
            <a:endParaRPr lang="zh-TW" altLang="en-US" sz="1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8B1C8D-D3FA-1CB0-5F7B-8E8841A5943E}"/>
              </a:ext>
            </a:extLst>
          </p:cNvPr>
          <p:cNvSpPr txBox="1"/>
          <p:nvPr/>
        </p:nvSpPr>
        <p:spPr>
          <a:xfrm>
            <a:off x="3196045" y="4628945"/>
            <a:ext cx="441146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DIP</a:t>
            </a:r>
            <a:endParaRPr lang="zh-TW" altLang="en-US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C80431-87C0-0939-3756-A2489EFC2A18}"/>
              </a:ext>
            </a:extLst>
          </p:cNvPr>
          <p:cNvSpPr txBox="1"/>
          <p:nvPr/>
        </p:nvSpPr>
        <p:spPr>
          <a:xfrm>
            <a:off x="6392091" y="3880008"/>
            <a:ext cx="474810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LSP</a:t>
            </a:r>
            <a:endParaRPr lang="zh-TW" altLang="en-US" sz="1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6AC9753-6C1F-33AA-752C-FBDEEBB24A36}"/>
              </a:ext>
            </a:extLst>
          </p:cNvPr>
          <p:cNvSpPr txBox="1"/>
          <p:nvPr/>
        </p:nvSpPr>
        <p:spPr>
          <a:xfrm>
            <a:off x="6392091" y="2300420"/>
            <a:ext cx="433132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ISP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2502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2">
            <a:extLst>
              <a:ext uri="{FF2B5EF4-FFF2-40B4-BE49-F238E27FC236}">
                <a16:creationId xmlns:a16="http://schemas.microsoft.com/office/drawing/2014/main" id="{E89DB096-A05E-776A-BDC6-C8AE5E8A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07791"/>
            <a:ext cx="11489509" cy="405428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單一職責原則（Single Responsibility Principle, SRP）</a:t>
            </a:r>
            <a:endParaRPr kumimoji="0" lang="en-US" altLang="zh-TW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82BD7BD-E2E1-8B54-6DB0-1C4EC81A0ABE}"/>
              </a:ext>
            </a:extLst>
          </p:cNvPr>
          <p:cNvSpPr txBox="1"/>
          <p:nvPr/>
        </p:nvSpPr>
        <p:spPr>
          <a:xfrm>
            <a:off x="406400" y="1339430"/>
            <a:ext cx="85460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/>
              <a:t>定義</a:t>
            </a:r>
          </a:p>
          <a:p>
            <a:r>
              <a:rPr lang="zh-TW" altLang="en-US" sz="1600" dirty="0"/>
              <a:t>每個模塊或類別應只有一個變更的原因。也就是說，類別應專注於完成一項職責。</a:t>
            </a:r>
          </a:p>
          <a:p>
            <a:r>
              <a:rPr lang="zh-TW" altLang="en-US" sz="1600" b="1" dirty="0"/>
              <a:t>判斷導入時機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b="1" dirty="0"/>
              <a:t>Do</a:t>
            </a:r>
            <a:r>
              <a:rPr lang="zh-TW" altLang="en-US" sz="1600" dirty="0"/>
              <a:t>：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1600" dirty="0"/>
              <a:t>當你的類別或函數負責多個業務邏輯，導致修改代碼時影響範圍太大。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1600" dirty="0"/>
              <a:t>當需要將不同職責清晰分離以增強可測試性。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b="1" dirty="0"/>
              <a:t>Don't</a:t>
            </a:r>
            <a:r>
              <a:rPr lang="zh-TW" altLang="en-US" sz="1600" dirty="0"/>
              <a:t>：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TW" altLang="en-US" sz="1600" dirty="0"/>
              <a:t>當拆分類別會引入不必要的複雜度或多餘的依賴關係。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FD93C5-CE53-0340-A768-4E36291E816E}"/>
              </a:ext>
            </a:extLst>
          </p:cNvPr>
          <p:cNvSpPr/>
          <p:nvPr/>
        </p:nvSpPr>
        <p:spPr>
          <a:xfrm>
            <a:off x="304800" y="933450"/>
            <a:ext cx="11582400" cy="285749"/>
          </a:xfrm>
          <a:prstGeom prst="rect">
            <a:avLst/>
          </a:prstGeom>
          <a:solidFill>
            <a:srgbClr val="BEE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544004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253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Wingdings</vt:lpstr>
      <vt:lpstr>Delta_PPTtemplate_16x9</vt:lpstr>
      <vt:lpstr>Python 導入 SOLID 原則的實用指南</vt:lpstr>
      <vt:lpstr>PowerPoint 簡報</vt:lpstr>
      <vt:lpstr>單一職責原則（Single Responsibility Principle, SRP）</vt:lpstr>
    </vt:vector>
  </TitlesOfParts>
  <Company>Delta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液冷解熱方案</dc:title>
  <dc:creator>SUNNIE.GD.WENG 翁維陽</dc:creator>
  <cp:lastModifiedBy>SUNNIE.GD.WENG 翁維陽</cp:lastModifiedBy>
  <cp:revision>3</cp:revision>
  <dcterms:created xsi:type="dcterms:W3CDTF">2024-11-19T01:26:17Z</dcterms:created>
  <dcterms:modified xsi:type="dcterms:W3CDTF">2024-11-19T06:42:40Z</dcterms:modified>
</cp:coreProperties>
</file>